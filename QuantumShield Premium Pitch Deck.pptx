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0671" y="2232868"/>
            <a:ext cx="5250656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b="0" sz="5400" i="0" u="none">
                <a:solidFill>
                  <a:srgbClr val="FFFFFF"/>
                </a:solidFill>
                <a:latin typeface="Plus Jakarta Sans ExtraBold"/>
              </a:rPr>
              <a:t>Quantum</a:t>
            </a:r>
            <a:r>
              <a:rPr b="0" sz="5400" i="0" u="none">
                <a:solidFill>
                  <a:srgbClr val="FFFFFF"/>
                </a:solidFill>
                <a:latin typeface="Plus Jakarta Sans ExtraBold"/>
              </a:rPr>
              <a:t>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284339"/>
            <a:ext cx="85725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D4D4D8"/>
                </a:solidFill>
                <a:latin typeface="Inter"/>
              </a:rPr>
              <a:t>Best Introduction:</a:t>
            </a:r>
            <a:r>
              <a:rPr b="0" sz="1650" i="0" u="none">
                <a:solidFill>
                  <a:srgbClr val="D4D4D8"/>
                </a:solidFill>
                <a:latin typeface="Inter Light"/>
              </a:rPr>
              <a:t> An end-to-end, agentic Post-Quantum Cryptography (PQC) and software platform. We unite 14 specialized modules to bridge the gap between vulnerable classical systems and tomorrow's NIST-standardized quantum-safe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5020"/>
            <a:ext cx="5048250" cy="7938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300662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The Quantum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4345"/>
            <a:ext cx="50482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489620"/>
            <a:ext cx="5048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Classical cryptography relies on the difficulty of composite modulus factorization. Shor's Algorithm solves this exponentially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59869"/>
            <a:ext cx="50482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A1A1AA"/>
                </a:solidFill>
                <a:latin typeface="Inter"/>
              </a:rPr>
              <a:t>Tab 2 &amp; 3: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Our Threat Matrix models Q-Day timelines, proving that polynomial time complexity shatters RSA and ECC, necessitating immediate migration to PQC.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051720"/>
            <a:ext cx="1537543" cy="33664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289226"/>
            <a:ext cx="1301353" cy="242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870"/>
            <a:ext cx="5286375" cy="4478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203870"/>
            <a:ext cx="5286375" cy="4478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594395"/>
            <a:ext cx="4730591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Key Exchange Sandbox (Tab 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043856"/>
            <a:ext cx="4505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Interactive side-by-side simulation comparing classical </a:t>
            </a:r>
            <a:r>
              <a:rPr b="0" sz="1500" i="0" u="none">
                <a:solidFill>
                  <a:srgbClr val="00E5FF"/>
                </a:solidFill>
                <a:latin typeface="Inter SemiBold"/>
              </a:rPr>
              <a:t>RSA-2048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against NIST FIPS 203 </a:t>
            </a:r>
            <a:r>
              <a:rPr b="0" sz="1500" i="0" u="none">
                <a:solidFill>
                  <a:srgbClr val="00E5FF"/>
                </a:solidFill>
                <a:latin typeface="Inter SemiBold"/>
              </a:rPr>
              <a:t>ML-KEM-768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1594395"/>
            <a:ext cx="4730591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Constant-Time Benchmarks (Tab 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043856"/>
            <a:ext cx="4505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Resolves engineering challenges of CPU memory constraints when transitioning to post-quantum signatures.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196381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Visualizes encapsulation/decapsulation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996481"/>
            <a:ext cx="4171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Analyzes ciphertext size and shared secrets.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491781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Demonstrates hybrid lattice-based network security.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196381"/>
            <a:ext cx="4171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Microsecond precision benchmarking.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691681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Overhead comparisons: ML-DSA, SLH-DSA, RSA.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491781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Constant-time side-channel resistance verifier.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Sandbox &amp; Benchmarks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234481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034581"/>
            <a:ext cx="952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529881"/>
            <a:ext cx="952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234481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729781"/>
            <a:ext cx="952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529881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20387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20387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Automate the manual, error-prone process of identifying hardcoded legacy cryptography in massive enterprise codebases.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35639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Intelligent Scanning: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Server-side Gemini models detect MD5, SHA-1, and RSA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15649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AST Migration: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Abstract Syntax Tree generates robust structural upgrades.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95659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One-Click Refactor: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Instant replacement with NIST-compliant PQC snippets.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213395"/>
            <a:ext cx="52673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AI Migration Audit Engine (Tab 05)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9449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94595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4695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870"/>
            <a:ext cx="3492549" cy="39126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203870"/>
            <a:ext cx="3492549" cy="39126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203870"/>
            <a:ext cx="3492549" cy="39126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213395"/>
            <a:ext cx="3473499" cy="1895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56520"/>
            <a:ext cx="3147112" cy="502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FFFFFF"/>
                </a:solidFill>
                <a:latin typeface="Plus Jakarta Sans SemiBold"/>
              </a:rPr>
              <a:t>PQC Encrypted Vault (Tab 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54512"/>
            <a:ext cx="29972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Hybrid ML-KEM-768 lattice encapsulation with AES-256-GCM ensures file survival against SNDL attacks.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24" y="1213395"/>
            <a:ext cx="3473499" cy="1895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7449" y="3356520"/>
            <a:ext cx="3147112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FFFFFF"/>
                </a:solidFill>
                <a:latin typeface="Plus Jakarta Sans SemiBold"/>
              </a:rPr>
              <a:t>Payment Gateway (Tab 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703141"/>
            <a:ext cx="29972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Multi-currency checkout verified via ML-DSA-65 signatures, eliminating on-chain signature spoofing.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7624" y="1213395"/>
            <a:ext cx="3473499" cy="18954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5749" y="3356520"/>
            <a:ext cx="3147112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FFFFFF"/>
                </a:solidFill>
                <a:latin typeface="Plus Jakarta Sans SemiBold"/>
              </a:rPr>
              <a:t>Crypto Exchange (Tab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49" y="3703141"/>
            <a:ext cx="29972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Live spot order books modeling Uniswap v3 routing with instant, PQC-protected token swapping.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Post-Quantum Ecosystem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870"/>
            <a:ext cx="5381625" cy="31545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203870"/>
            <a:ext cx="5381625" cy="315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299245"/>
            <a:ext cx="5030628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Crypto Transformer (Tab 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48706"/>
            <a:ext cx="47910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Dedicated SHA-224 calculator supporting hex/binary. Audits padding oracles and length extension attack vulnerabilities mandated by specific protocols.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299245"/>
            <a:ext cx="5030628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Agentic CTF Arena (Tab 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48706"/>
            <a:ext cx="47910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Interactive challenges covering LLL lattice reduction, Shortest Vector Problem (SVP), and side-channel timing analysis. Trains security engineers practically.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163249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1632495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Research &amp; Cryptanalysis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1203870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64927"/>
            <a:ext cx="5550693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Entropy Generation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14388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Demonstrates how emergent cellular automata entropy can be harnessed for cryptographic randomness.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737" y="1222920"/>
            <a:ext cx="37719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0" y="2862113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Game of Life: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Grid execution linked to entropy.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357413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Key Range Scanner: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Visual Secp256k1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852713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Live Telemetry: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State, population, and generation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KeyHunt &amp; Cellular Automata (Tab 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900213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395513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890813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300662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The Agency (Tab 11)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4345"/>
            <a:ext cx="50482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489620"/>
            <a:ext cx="5048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A multi-agent autonomous AI workforce hub designed to eliminate operational bottlenecks during complex migrations.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70920"/>
            <a:ext cx="5048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Teams autonomously audit, refactor, and test cryptographic systems entirely in parallel.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594520"/>
            <a:ext cx="4714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230+ AI Agents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deployed.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089820"/>
            <a:ext cx="4714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Elite PQC Squads &amp; Auditors.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585120"/>
            <a:ext cx="4714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Dynamic task delegation.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3262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7920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23220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20387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20387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Provides a single, unified supreme control interface translating high-level natural language desires into execution across software and physical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356395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Single-Command Intent: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Orchestrates all 14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851695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1-Click Workflows: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Full Virtual &amp; Physical PQC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34699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Inter SemiBold"/>
              </a:rPr>
              <a:t>Dual-Realm Engine:</a:t>
            </a:r>
            <a:r>
              <a:rPr b="0" sz="1500" i="0" u="none">
                <a:solidFill>
                  <a:srgbClr val="A1A1AA"/>
                </a:solidFill>
                <a:latin typeface="Inter"/>
              </a:rPr>
              <a:t> Code artifacts and physical edge hardware actuation logs.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213395"/>
            <a:ext cx="52673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Omniversal Magic Box (Tab 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9449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89795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5095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870"/>
            <a:ext cx="3492549" cy="37641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203870"/>
            <a:ext cx="3492549" cy="37641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203870"/>
            <a:ext cx="3492549" cy="3764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299245"/>
            <a:ext cx="3047099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QKAN &amp; PQK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748706"/>
            <a:ext cx="29019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Quantum Kolmogorov-Arnold Networks use trainable B-splines. Projected Quantum Kernels eliminate barren plateaus in massive Hilbert 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2299245"/>
            <a:ext cx="3047099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QRC &amp; Q-MCMC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2748706"/>
            <a:ext cx="29019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Quantum Reservoir Computing utilizes thermalized entanglement for forecasting, while Q-MCMC accelerates stationary sampling via quantum walks.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2299245"/>
            <a:ext cx="3047099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950" i="0" u="none">
                <a:solidFill>
                  <a:srgbClr val="FFFFFF"/>
                </a:solidFill>
                <a:latin typeface="Plus Jakarta Sans SemiBold"/>
              </a:rPr>
              <a:t>Autonomous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2748706"/>
            <a:ext cx="290199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Automates mathematical synthesis, generating circuit schematics and exporting telemetry directly to PennyLane, Qiskit, and Solidity.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632495"/>
            <a:ext cx="47625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163249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1632495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Agentic Quantum Algo Generator (Tab 14)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994594"/>
            <a:ext cx="900112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0" sz="4200" i="0" u="none">
                <a:solidFill>
                  <a:srgbClr val="FFFFFF"/>
                </a:solidFill>
                <a:latin typeface="Plus Jakarta Sans ExtraBold"/>
              </a:rPr>
              <a:t>Best </a:t>
            </a:r>
            <a:r>
              <a:rPr b="0" sz="4200" i="0" u="none">
                <a:solidFill>
                  <a:srgbClr val="FFFFFF"/>
                </a:solidFill>
                <a:latin typeface="Plus Jakarta Sans ExtraBol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2920305"/>
            <a:ext cx="8572500" cy="1942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b="0" sz="1800" i="0" u="none">
                <a:solidFill>
                  <a:srgbClr val="E4E4E7"/>
                </a:solidFill>
                <a:latin typeface="Inter"/>
              </a:rPr>
              <a:t>The QuantumShield platform has been completely assembled, verified, and compiled. Every tab is connected via a seamless navigation system. By merging cutting-edge AI autonomy, interactive simulation, and rigid NIST cryptographic standards, QuantumShield sets a world-class benchmark for next-generation digital defense and post-quantum preparedness.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870"/>
            <a:ext cx="11049000" cy="380985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213395"/>
          <a:ext cx="11029949" cy="379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41153"/>
                <a:gridCol w="3492996"/>
                <a:gridCol w="4495800"/>
              </a:tblGrid>
              <a:tr h="75816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NIST Standard / Concept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Algorithm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Platform Module Utilization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</a:tr>
              <a:tr h="7581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A1A1AA"/>
                          </a:solidFill>
                          <a:latin typeface="Inter"/>
                        </a:rPr>
                        <a:t>FIPS 203 (ML-KEM)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Key Encapsulation / Transport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Key Exchange Sandbox, Encrypted Vault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81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A1A1AA"/>
                          </a:solidFill>
                          <a:latin typeface="Inter"/>
                        </a:rPr>
                        <a:t>FIPS 204 (ML-DSA)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Digital Signatures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Payment Gateway, Crypto Exchanges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81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A1A1AA"/>
                          </a:solidFill>
                          <a:latin typeface="Inter"/>
                        </a:rPr>
                        <a:t>FIPS 205 (SLH-DSA)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Stateless Hash Signatures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AI Migration Audit Replacements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816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A1A1AA"/>
                          </a:solidFill>
                          <a:latin typeface="Inter"/>
                        </a:rPr>
                        <a:t>Shor's 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Factorization Risk Modeling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A1A1AA"/>
                          </a:solidFill>
                          <a:latin typeface="Inter"/>
                        </a:rPr>
                        <a:t>Shor's Threat Matrix, Quantum Lab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1959173"/>
            <a:ext cx="3041153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22178" y="1959173"/>
            <a:ext cx="3492996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15175" y="1959173"/>
            <a:ext cx="4495800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719238"/>
            <a:ext cx="30411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22178" y="2719238"/>
            <a:ext cx="3492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5175" y="2719238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479303"/>
            <a:ext cx="30411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22178" y="3479303"/>
            <a:ext cx="3492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5175" y="3479303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239369"/>
            <a:ext cx="30411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2178" y="4239369"/>
            <a:ext cx="3492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15175" y="4239369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References &amp; NIST Standards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693640"/>
            <a:ext cx="11601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0" sz="6000" i="0" u="none">
                <a:solidFill>
                  <a:srgbClr val="FFFFFF"/>
                </a:solidFill>
                <a:latin typeface="Plus Jakarta Sans ExtraBold"/>
              </a:rPr>
              <a:t>Ready for </a:t>
            </a:r>
            <a:r>
              <a:rPr b="0" sz="6000" i="0" u="none">
                <a:solidFill>
                  <a:srgbClr val="FFFFFF"/>
                </a:solidFill>
                <a:latin typeface="Plus Jakarta Sans ExtraBold"/>
              </a:rPr>
              <a:t>Q-Day?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798540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A1A1AA"/>
                </a:solidFill>
                <a:latin typeface="Inter"/>
              </a:rPr>
              <a:t>Secure the Future. Deploy QuantumShield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20387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86731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97150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75627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54104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1772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1772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961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61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46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746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53151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3151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3162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3162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241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34674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https://png.pngtree.com/thumb_back/fw800/background/20260128/pngtree-futuristic-ai-technology-symbol-surrounded-by-glowing-neon-hexagons-in-dark-image_21236705.webp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9055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615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2960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https://assets.ibm.com/is/image/ibm/pdf01705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7532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www.ibm.com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09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1437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x-raw-image:///59e47eb501a03c3cb33df61c368fdc83a94f8e0230bda54485d17d7cb27034c1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6009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ir.vistas.ac.in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05696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89914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https://www.mdpi.com/sensors/sensors-26-04683/article_deploy/html/images/sensors-26-04683-g002-550.jpg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14486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www.mdpi.com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90467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68391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https://www.starknet.io/wp-content/uploads/2025/11/How-Bitcoin-Staking-Affects-STRK.jpg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92963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www.starknet.io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47523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468689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https://images.squarespace-cdn.com/content/v1/59413d96e6f2e1c6837c7ecd/1591668496436-LGK0Q1IKF11JXAF80R8B/complex2.jpeg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71440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www.artnome.com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20387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988641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979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979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63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763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53294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134674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https://media.easy-peasy.ai/9754110f-aabf-44fd-88e1-a0e24139e474/64b088d6-6392-4e9b-9870-069f42014edc_medium.webp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159246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38064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13151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https://cpostrategy.media/wp-content/uploads/sites/2/2026/06/Cover.CPO73.jpg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37723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cpostrategy.media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2283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91628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A1A1AA"/>
                </a:solidFill>
                <a:latin typeface="Inter"/>
              </a:rPr>
              <a:t>https://png.pngtree.com/thumb_back/fh260/background/20250518/pngtree-neon-smoke-cloud-digital-art-with-diamond-frame-and-glow-effects-image_17313443.jpg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16200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A1A1A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FFFFF"/>
                </a:solidFill>
                <a:latin typeface="Plus Jakarta Sans SemiBold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